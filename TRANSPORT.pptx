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7" r:id="rId10"/>
    <p:sldId id="268" r:id="rId11"/>
    <p:sldId id="265" r:id="rId12"/>
    <p:sldId id="272" r:id="rId13"/>
    <p:sldId id="266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7" d="100"/>
          <a:sy n="67" d="100"/>
        </p:scale>
        <p:origin x="64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AE02A-A012-4760-8585-A61CD55BB7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996071-C60B-46F5-B26B-01FA67B0C0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3A451-8077-4EB0-B29A-9CB07E317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9BADC-94D5-4219-B59A-8CFDFE72AFB1}" type="datetimeFigureOut">
              <a:rPr lang="en-IN" smtClean="0"/>
              <a:t>14-12-2025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413496-3AA3-4C6C-A653-C364318FC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DB6DC-7EEF-4560-98A9-EFC439041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16E5C-76F7-49CD-8187-72D98DBCCF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2611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191E9-3D1E-464D-84D7-D67697A37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C79AB-0FB1-4E96-9AA4-793C489F69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AC6089-3DBE-4735-8C28-6E50025C1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9BADC-94D5-4219-B59A-8CFDFE72AFB1}" type="datetimeFigureOut">
              <a:rPr lang="en-IN" smtClean="0"/>
              <a:t>14-12-2025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938FB-1D7C-44AE-A02F-DD28F8679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E9CF37-80A6-4256-9763-DF21D6D39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16E5C-76F7-49CD-8187-72D98DBCCF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8074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668F1-A236-4C72-9EAB-02003FC6F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D82083-E78C-4EC7-9D0C-662139398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CA586-90FB-4F4C-B22F-EEC4BFA0D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9BADC-94D5-4219-B59A-8CFDFE72AFB1}" type="datetimeFigureOut">
              <a:rPr lang="en-IN" smtClean="0"/>
              <a:t>14-12-2025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33D68-74E0-47DF-933B-838F33886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97C06-636A-414C-8566-D5C49C773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16E5C-76F7-49CD-8187-72D98DBCCF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161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CBC3D-930D-4B6F-A344-C0EF0949A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CFA75-8CD7-49BC-90B7-27C2F3EEDF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716479-4485-4314-8D07-06E18271FB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FDCF8C-BC42-446D-9A77-8DBC28915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9BADC-94D5-4219-B59A-8CFDFE72AFB1}" type="datetimeFigureOut">
              <a:rPr lang="en-IN" smtClean="0"/>
              <a:t>14-12-2025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01180E-482C-4E03-9089-A5205EB51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938228-A5AF-42B8-90DD-CF1BB84BF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16E5C-76F7-49CD-8187-72D98DBCCF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5977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AC314-4F0B-45EF-A997-F10EF8AE7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CEDD7-E5BF-4F3B-83D8-D74782759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409E67-8B15-499E-A616-0860148E60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9C182B-1EFD-4FED-A932-7272C9B38E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7C4DF3-935A-4925-909B-EA199E309B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9D9715-DF36-48AC-AB5F-7ABEBE872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9BADC-94D5-4219-B59A-8CFDFE72AFB1}" type="datetimeFigureOut">
              <a:rPr lang="en-IN" smtClean="0"/>
              <a:t>14-12-2025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55B6C7-BBA3-4D1D-932D-84555EAF8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B8D685-564F-48FD-8EE2-1FA3809F7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16E5C-76F7-49CD-8187-72D98DBCCF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4532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BC267-66DB-4B7C-BDB9-5799A15CD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DD57D7-2488-4006-8472-65B122AF2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9BADC-94D5-4219-B59A-8CFDFE72AFB1}" type="datetimeFigureOut">
              <a:rPr lang="en-IN" smtClean="0"/>
              <a:t>14-12-2025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A58688-9806-4C2B-BD2A-CE9E6F8A0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625A1-C7DB-43DF-AA97-4AB884400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16E5C-76F7-49CD-8187-72D98DBCCF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0911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353ED8-A800-43DD-98B2-382C244FA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9BADC-94D5-4219-B59A-8CFDFE72AFB1}" type="datetimeFigureOut">
              <a:rPr lang="en-IN" smtClean="0"/>
              <a:t>14-12-2025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2FFEB4-196A-46BB-8FEF-1EF0F6CC7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D17681-0EA5-4765-9223-8AC5132EC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16E5C-76F7-49CD-8187-72D98DBCCF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6881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B4FC-73E6-4E13-8852-EEEF05E52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C2F2D-7C34-4077-92EC-3B1058029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5607E-7BE8-4E42-BC4A-7138162151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33825C-B4C6-4BB0-BA43-EFD4A25BD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9BADC-94D5-4219-B59A-8CFDFE72AFB1}" type="datetimeFigureOut">
              <a:rPr lang="en-IN" smtClean="0"/>
              <a:t>14-12-2025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2E804B-505F-4452-9E1D-0570B512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3E3AAD-2DB5-42EB-98DD-339B289E4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16E5C-76F7-49CD-8187-72D98DBCCF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12594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AC64-1122-4905-999D-A810D1828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365BD1-8AFB-4992-A247-515C940190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736B9B-4A94-4EB9-9ECE-B83679AEE9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2FC847-84FF-4634-9B8E-361E7811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9BADC-94D5-4219-B59A-8CFDFE72AFB1}" type="datetimeFigureOut">
              <a:rPr lang="en-IN" smtClean="0"/>
              <a:t>14-12-2025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B55139-CD49-4B41-8B32-8DA207576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8A50A9-CCD3-4124-8805-B0E6A6D99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16E5C-76F7-49CD-8187-72D98DBCCF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5697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7561D-248D-4538-AFA6-FDDEBA04D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2B2D8F-832F-4C4B-B621-BB3A757EFD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4498B-1CB4-4456-BEA8-069EBF04C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9BADC-94D5-4219-B59A-8CFDFE72AFB1}" type="datetimeFigureOut">
              <a:rPr lang="en-IN" smtClean="0"/>
              <a:t>14-12-2025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59BD98-8611-4680-B700-F3EA007BF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E07EF-F7C0-4111-A321-A9710E191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16E5C-76F7-49CD-8187-72D98DBCCF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310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A12700-4593-478F-8556-EACB954900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FBD529-A940-471F-9997-AE156AB1BB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1D0436-F8D7-49E2-BE4D-AE73C4A15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9BADC-94D5-4219-B59A-8CFDFE72AFB1}" type="datetimeFigureOut">
              <a:rPr lang="en-IN" smtClean="0"/>
              <a:t>14-12-2025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761DE6-3F48-423D-85B7-195EB65BE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C0E3CB-743E-40D4-87B4-213DD459D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16E5C-76F7-49CD-8187-72D98DBCCF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095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275238-2AC6-4376-B4FC-D8646CB8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55F493-2DDA-4CFB-AE56-F7CECEEDB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7FF66-FFEF-4C2F-8133-1B5C36D282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29BADC-94D5-4219-B59A-8CFDFE72AFB1}" type="datetimeFigureOut">
              <a:rPr lang="en-IN" smtClean="0"/>
              <a:t>14-12-2025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F0E16F-9461-48E3-80F8-47893AF859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936F58-432B-4611-83A5-0FB6D9E19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A16E5C-76F7-49CD-8187-72D98DBCCF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6489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3" Type="http://schemas.openxmlformats.org/officeDocument/2006/relationships/image" Target="../media/image5.jpg"/><Relationship Id="rId7" Type="http://schemas.openxmlformats.org/officeDocument/2006/relationships/image" Target="../media/image9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8E75EE-E497-4CD5-B58B-1D25A1D2CB73}"/>
              </a:ext>
            </a:extLst>
          </p:cNvPr>
          <p:cNvSpPr/>
          <p:nvPr/>
        </p:nvSpPr>
        <p:spPr>
          <a:xfrm>
            <a:off x="0" y="-19049"/>
            <a:ext cx="12258675" cy="67859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</a:pPr>
            <a:r>
              <a:rPr lang="en-US" sz="2000" b="1" kern="0" dirty="0">
                <a:solidFill>
                  <a:srgbClr val="365F91"/>
                </a:solidFill>
                <a:effectLst/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Transportation Analytics – Technical Documentation (Task 4)</a:t>
            </a:r>
            <a:endParaRPr lang="en-IN" sz="2000" b="1" kern="0" dirty="0">
              <a:solidFill>
                <a:srgbClr val="365F91"/>
              </a:solidFill>
              <a:effectLst/>
              <a:latin typeface="Calibri" panose="020F0502020204030204" pitchFamily="34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1600" b="1" dirty="0">
                <a:solidFill>
                  <a:srgbClr val="4F81BD"/>
                </a:solidFill>
                <a:effectLst/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1. Project Overview</a:t>
            </a:r>
            <a:endParaRPr lang="en-IN" sz="1600" b="1" dirty="0">
              <a:solidFill>
                <a:srgbClr val="4F81BD"/>
              </a:solidFill>
              <a:effectLst/>
              <a:latin typeface="Calibri" panose="020F0502020204030204" pitchFamily="34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This project focuses on building a fuel efficiency prediction model, safety score model (optional), and a </a:t>
            </a:r>
            <a:r>
              <a:rPr lang="en-US" sz="1600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Streamlit</a:t>
            </a: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-based interactive dashboard.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1600" b="1" dirty="0">
                <a:solidFill>
                  <a:srgbClr val="4F81BD"/>
                </a:solidFill>
                <a:effectLst/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2. Objectives</a:t>
            </a:r>
            <a:endParaRPr lang="en-IN" sz="1600" b="1" dirty="0">
              <a:solidFill>
                <a:srgbClr val="4F81BD"/>
              </a:solidFill>
              <a:effectLst/>
              <a:latin typeface="Calibri" panose="020F0502020204030204" pitchFamily="34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Tx/>
              <a:buChar char="-"/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Clean and preprocess vehicle transportation data.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Tx/>
              <a:buChar char="-"/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Engineer new features such as Fuel Economy Index, Load Ratio, etc.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   Train an ML model to predict fuel efficiency.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Tx/>
              <a:buChar char="-"/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Build an interactive dashboard using </a:t>
            </a:r>
            <a:r>
              <a:rPr lang="en-US" sz="1600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Streamlit</a:t>
            </a: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</a:p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Dataset Details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master_analytics.csv contains cleaned and merged data.</a:t>
            </a: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   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Useful columns include: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distance_travelled_km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fuel_consumed_liters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load_weight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vehicle_speed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trip_time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etc.</a:t>
            </a:r>
          </a:p>
          <a:p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Data Cleaning Steps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Removing duplicates</a:t>
            </a:r>
          </a:p>
          <a:p>
            <a:pPr marL="285750" indent="-285750">
              <a:buFontTx/>
              <a:buChar char="-"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missing values</a:t>
            </a:r>
          </a:p>
          <a:p>
            <a:pPr marL="285750" indent="-285750">
              <a:buFontTx/>
              <a:buChar char="-"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Fixing data types</a:t>
            </a:r>
          </a:p>
          <a:p>
            <a:pPr marL="285750" indent="-285750">
              <a:buFontTx/>
              <a:buChar char="-"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Feature scaling and transformations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Tx/>
              <a:buChar char="-"/>
            </a:pP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3958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E8E16C-790C-4BB8-A854-43E2775852BD}"/>
              </a:ext>
            </a:extLst>
          </p:cNvPr>
          <p:cNvSpPr/>
          <p:nvPr/>
        </p:nvSpPr>
        <p:spPr>
          <a:xfrm>
            <a:off x="152400" y="-66676"/>
            <a:ext cx="10363200" cy="7052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delivery_logs_clean.csv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Trip_ID,Expected_Delivery_Time,Actual_Delivery_Time,Delay_Minutes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T001,12:00,12:15,15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T002,11:00,10:50,-10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T003,12:30,12:45,15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T004,11:00,11:05,5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T005,10:30,10:40,10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drivers_clean.csv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Driver_ID,Driver_Name,Experience_Years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D001,Ravi,5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D002,Sita,2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D003,Kiran,4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D004,Anu,3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D005,Raj,6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fuel_logs_clean.csv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Trip_ID,Fuel_Consumed_L,Fuel_Efficiency_km_per_L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T001,50,2.4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T002,30,2.67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T003,80,2.5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T004,10,5.0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T005,60,2.5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4516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869DC8-35F4-456C-A673-033ED14E077F}"/>
              </a:ext>
            </a:extLst>
          </p:cNvPr>
          <p:cNvSpPr/>
          <p:nvPr/>
        </p:nvSpPr>
        <p:spPr>
          <a:xfrm>
            <a:off x="76200" y="84591"/>
            <a:ext cx="9067800" cy="4469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gps_routes_clean.csv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Trip_ID,Vehicle_ID,Route,Distance_km,Start_Time,End_Time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T001,V001,CityA-CityB,120,08:00,12:00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T002,V002,CityB-CityC,80,09:00,11:00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T003,V003,CityA-CityD,200,07:30,12:30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T004,V004,CityC-CityD,50,10:00,11:00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T005,V005,CityD-CityE,150,06:00,10:30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maintenance_clean.csv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Vehicle_ID,Maintenance_Date,Maintenance_Cost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V001,2025-01-10,5000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V002,2025-01-12,3000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V003,2025-01-15,7000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V004,2025-01-18,1500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V005,2025-01-20,4000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447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FFB8A14-5339-4ED8-A5C0-CCB0759805E6}"/>
              </a:ext>
            </a:extLst>
          </p:cNvPr>
          <p:cNvSpPr/>
          <p:nvPr/>
        </p:nvSpPr>
        <p:spPr>
          <a:xfrm>
            <a:off x="352426" y="323850"/>
            <a:ext cx="7791450" cy="4663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master_analytics.csv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Trip_ID,Vehicle_ID,Route,Distance_km,Start_Time,End_Time,Vehicle_Type,Capacity,Fuel_Consumed_L,Fuel_Efficiency_km_per_L,Expected_Delivery_Time,Actual_Delivery_Time,Delay_Minutes,Maintenance_Date,Maintenance_Cost,Driver_ID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T001,V001,CityA-CityB,120,08:00,12:00,Truck,1000,50,2.4,12:00,12:15,15,2025-01-10,5000,D001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T002,V002,CityB-CityC,80,09:00,11:00,Van,500,30,2.67,11:00,10:50,-10,2025-01-12,3000,D002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T003,V003,CityA-CityD,200,07:30,12:30,Truck,1200,80,2.5,12:30,12:45,15,2025-01-15,7000,D003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T004,V004,CityC-CityD,50,10:00,11:00,Bike,100,10,5.0,11:00,11:05,5,2025-01-18,1500,D004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T005,V005,CityD-CityE,150,06:00,10:30,Van,600,60,2.5,10:30,10:40,10,2025-01-20,4000,D005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vehicles_clean.csv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Vehicle_ID,Vehicle_Type,Capacity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V001,Truck,1000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V002,Van,500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V003,Truck,1200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V004,Bike,100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V005,Van,600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404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A2C6FC-16B5-4A84-9085-76BCF102A98C}"/>
              </a:ext>
            </a:extLst>
          </p:cNvPr>
          <p:cNvSpPr/>
          <p:nvPr/>
        </p:nvSpPr>
        <p:spPr>
          <a:xfrm flipH="1">
            <a:off x="123825" y="161925"/>
            <a:ext cx="4673262" cy="3850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b="1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correction_heatmap.png</a:t>
            </a:r>
            <a:endParaRPr lang="en-IN" sz="14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C8C031-DC69-44C8-A7A6-4FBE865AF40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42901" y="546967"/>
            <a:ext cx="4454186" cy="33051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DB12E2B-64BB-4BCB-842B-693E879820EE}"/>
              </a:ext>
            </a:extLst>
          </p:cNvPr>
          <p:cNvSpPr/>
          <p:nvPr/>
        </p:nvSpPr>
        <p:spPr>
          <a:xfrm>
            <a:off x="6999321" y="80883"/>
            <a:ext cx="2706654" cy="3906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b="1" dirty="0"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delay_distribution.png</a:t>
            </a:r>
            <a:endParaRPr lang="en-IN" b="1" dirty="0">
              <a:latin typeface="Calibri" panose="020F0502020204030204" pitchFamily="34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08010D-5897-476F-B385-296C1EA6C409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6276975" y="866775"/>
            <a:ext cx="4454186" cy="28670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E04B0A1-9083-4CDF-A0C3-9705D86ACA22}"/>
              </a:ext>
            </a:extLst>
          </p:cNvPr>
          <p:cNvSpPr/>
          <p:nvPr/>
        </p:nvSpPr>
        <p:spPr>
          <a:xfrm>
            <a:off x="3829050" y="3495675"/>
            <a:ext cx="3419475" cy="3906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b="1" dirty="0"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fuel_efficiency_per_vehicle.png</a:t>
            </a:r>
            <a:endParaRPr lang="en-IN" b="1" dirty="0">
              <a:latin typeface="Calibri" panose="020F0502020204030204" pitchFamily="34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7298AD-D700-47B2-9A11-180D076B402A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3467101" y="3886359"/>
            <a:ext cx="4114800" cy="2723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414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4F2FCA-8B59-40CF-853F-07D55429645C}"/>
              </a:ext>
            </a:extLst>
          </p:cNvPr>
          <p:cNvSpPr/>
          <p:nvPr/>
        </p:nvSpPr>
        <p:spPr>
          <a:xfrm>
            <a:off x="0" y="104774"/>
            <a:ext cx="9144000" cy="59688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data_cleaning_script.py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pandas as pd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raw_path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r"C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:\Users\admin\Desktop\Transportation_Analytics\data\raw"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r"C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:\Users\admin\Desktop\Transportation_Analytics\data\cleaned"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os.makedirs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exist_ok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=True)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vehicles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pd.read_csv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raw_path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"vehicles.csv"))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vehicles.drop_duplicates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inplace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=True)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vehicles.to_csv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"vehicles_clean.csv"), index=False)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drivers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pd.read_csv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raw_path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"drivers.csv"))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drivers.drop_duplicates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inplace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=True)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drivers.to_csv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"drivers_clean.csv"), index=False)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gps_routes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pd.read_csv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raw_path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"gps_routes.csv"))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gps_routes.drop_duplicates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inplace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=True)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gps_routes.to_csv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"gps_routes_clean.csv"), index=False)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fuel_logs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pd.read_csv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raw_path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"fuel_logs.csv"))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fuel_logs.drop_duplicates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inplace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=True)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fuel_logs.to_csv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"fuel_logs_clean.csv"), index=False)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delivery_logs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pd.read_csv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raw_path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"delivery_logs.csv"))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delivery_logs.drop_duplicates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inplace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=True)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delivery_logs.to_csv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"delivery_logs_clean.csv"), index=False)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maintenance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pd.read_csv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raw_path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"maintenance.csv"))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maintenance.drop_duplicates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inplace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=True)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maintenance.to_csv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"maintenance_clean.csv"), index=False)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print("All CSV files cleaned and saved to cleaned folder successfully!")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36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032331B-8FD0-4EA4-8B3B-F845EB9AEE1D}"/>
              </a:ext>
            </a:extLst>
          </p:cNvPr>
          <p:cNvSpPr/>
          <p:nvPr/>
        </p:nvSpPr>
        <p:spPr>
          <a:xfrm>
            <a:off x="85725" y="85725"/>
            <a:ext cx="9058275" cy="61484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eda_analysis.py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pandas as pd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matplotlib.pyplot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seaborn as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sns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r"C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:\Users\admin\Desktop\Transportation_Analytics\data\cleaned"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master_file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"master_analytics.csv")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df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pd.read_csv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master_file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plt.figure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figsize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=(8,5))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sns.barplot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(x="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Vehicle_ID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 y="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Fuel_Efficiency_km_per_L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 data=df)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plt.title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("Fuel Efficiency per Vehicle")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plt.savefig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cleaned_path,"fuel_efficiency_per_vehicle.png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plt.close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plt.figure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figsize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=(8,5))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sns.histplot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(df["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Delay_Minutes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"], bins=10,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kde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=True)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plt.title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("Delivery Delay Distribution")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plt.savefig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cleaned_path,"delay_distribution.png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plt.close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numeric_df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df.select_dtypes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(include=['int64', 'float64'])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plt.figure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figsize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=(8,6))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sns.heatmap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numeric_df.corr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(),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annot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=True,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cmap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coolwarm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plt.title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("Correlation Heatmap")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plt.savefig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cleaned_path,"correlation_heatmap.png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plt.close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print("All EDA charts created successfully and saved inside /data/cleaned/")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2102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EF870-64EB-41ED-8067-1A34622937BB}"/>
              </a:ext>
            </a:extLst>
          </p:cNvPr>
          <p:cNvSpPr/>
          <p:nvPr/>
        </p:nvSpPr>
        <p:spPr>
          <a:xfrm>
            <a:off x="266700" y="200025"/>
            <a:ext cx="8877300" cy="59688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1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merge_master_dataset.py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pandas as pd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matplotlib.pyplot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seaborn as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sns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r"C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:\Users\admin\Desktop\Transportation_Analytics\data\cleaned"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master_file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"master_analytics.csv")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df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pd.read_csv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master_file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plt.figure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figsize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=(8,5))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sns.barplot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(x="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Vehicle_ID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 y="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Fuel_Efficiency_km_per_L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 data=df)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plt.title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("Fuel Efficiency per Vehicle")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plt.savefig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cleaned_path,"fuel_efficiency_per_vehicle.png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plt.close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plt.figure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figsize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=(8,5))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sns.histplot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(df["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Delay_Minutes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"], bins=10,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kde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=True)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plt.title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("Delivery Delay Distribution")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plt.savefig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cleaned_path,"delay_distribution.png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plt.close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numeric_df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df.select_dtypes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(include=['int64', 'float64'])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plt.figure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figsize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=(8,6))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sns.heatmap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numeric_df.corr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(),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annot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=True, 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cmap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coolwarm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plt.title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("Correlation Heatmap")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plt.savefig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cleaned_path,"correlation_heatmap.png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plt.close</a:t>
            </a: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print("All EDA charts created successfully and saved inside /data/cleaned/")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1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1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3057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8A6741-A55E-4C6A-9B78-CF1BA3613EAE}"/>
              </a:ext>
            </a:extLst>
          </p:cNvPr>
          <p:cNvSpPr/>
          <p:nvPr/>
        </p:nvSpPr>
        <p:spPr>
          <a:xfrm>
            <a:off x="190500" y="76200"/>
            <a:ext cx="9715500" cy="69449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05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model_training.py</a:t>
            </a:r>
            <a:endParaRPr lang="en-IN" sz="1050" b="1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</a:t>
            </a:r>
            <a:endParaRPr lang="en-IN" sz="105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mport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pandas as pd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sklearn.ensemble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import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RandomForestRegressor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sklearn.preprocessing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import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OneHotEncoder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sklearn.metrics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import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mean_absolute_error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r2_score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joblib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print("Fuel Efficiency Model Training Started...")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DATA_PATH = "data/cleaned/master_analytics.csv"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SAVE_DIR = "D:/models"  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os.makedirs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(SAVE_DIR,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exist_ok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=True)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MODEL_PATH =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os.path.join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(SAVE_DIR, "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fuel_efficiency_model.pkl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df =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pd.read_csv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(DATA_PATH)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feature_cols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["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Distance_km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 "Capacity", "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Fuel_Consumed_L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"]  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categorical_cols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["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Vehicle_Type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 "Route"]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X_num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df[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feature_cols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encoder =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OneHotEncoder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(drop='first',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dtype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=int)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X_cat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encoder.fit_transform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(df[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categorical_cols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]).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toarray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as np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np.hstack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([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X_num.values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X_cat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])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 = df["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Fuel_Efficiency_km_per_L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"].values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print(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f"Features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used: {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X.shape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[1]}, Rows: {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X.shape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[0]}")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 =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RandomForestRegressor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n_estimators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=100,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random_state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=42)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model.fit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(X, y)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y_pred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model.predict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(X)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mae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mean_absolute_error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(y,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y_pred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r2 = r2_score(y, 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y_pred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>
              <a:lnSpc>
                <a:spcPts val="1425"/>
              </a:lnSpc>
              <a:spcAft>
                <a:spcPts val="0"/>
              </a:spcAft>
            </a:pPr>
            <a:endParaRPr lang="en-US" sz="1050" dirty="0">
              <a:effectLst/>
              <a:latin typeface="Times New Roman" panose="020206030504050203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endParaRPr lang="en-IN" sz="105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502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2A18C6-C787-4AAF-BE6F-F80C4B7A952E}"/>
              </a:ext>
            </a:extLst>
          </p:cNvPr>
          <p:cNvSpPr/>
          <p:nvPr/>
        </p:nvSpPr>
        <p:spPr>
          <a:xfrm>
            <a:off x="200025" y="114300"/>
            <a:ext cx="8943975" cy="9764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print("Model Trained Successfully!")</a:t>
            </a:r>
            <a:endParaRPr lang="en-IN" sz="105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print(</a:t>
            </a: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f"MAE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{mae:.4f}")</a:t>
            </a:r>
            <a:endParaRPr lang="en-IN" sz="105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print(f"R² Score: {r2:.4f}")</a:t>
            </a:r>
            <a:endParaRPr lang="en-IN" sz="105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joblib.dump</a:t>
            </a: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(model, MODEL_PATH)</a:t>
            </a:r>
            <a:endParaRPr lang="en-IN" sz="105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Aft>
                <a:spcPts val="0"/>
              </a:spcAft>
            </a:pPr>
            <a:r>
              <a:rPr lang="en-IN" sz="105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print(f" Model saved as {MODEL_PATH}")</a:t>
            </a:r>
            <a:endParaRPr lang="en-IN" sz="105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3B2DEB-F877-44B9-B9C4-FE37B1A93392}"/>
              </a:ext>
            </a:extLst>
          </p:cNvPr>
          <p:cNvSpPr/>
          <p:nvPr/>
        </p:nvSpPr>
        <p:spPr>
          <a:xfrm>
            <a:off x="200025" y="1090786"/>
            <a:ext cx="5762625" cy="28209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b="1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python model_training.py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Fuel Efficiency Model Training Started...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Features used: 9, Rows: 5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Model Trained Successfully!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MAE: 0.2701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R² Score: 0.8163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Model saved as D:/models\fuel_efficiency_model.pkl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12028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3269D5-1205-466B-9E46-0E29B3E09005}"/>
              </a:ext>
            </a:extLst>
          </p:cNvPr>
          <p:cNvSpPr/>
          <p:nvPr/>
        </p:nvSpPr>
        <p:spPr>
          <a:xfrm>
            <a:off x="361950" y="276225"/>
            <a:ext cx="8782050" cy="67081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05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dashboard.py</a:t>
            </a:r>
          </a:p>
          <a:p>
            <a:r>
              <a:rPr lang="en-IN" sz="1050" dirty="0"/>
              <a:t>import </a:t>
            </a:r>
            <a:r>
              <a:rPr lang="en-IN" sz="1050" dirty="0" err="1"/>
              <a:t>streamlit</a:t>
            </a:r>
            <a:r>
              <a:rPr lang="en-IN" sz="1050" dirty="0"/>
              <a:t> as </a:t>
            </a:r>
            <a:r>
              <a:rPr lang="en-IN" sz="1050" dirty="0" err="1"/>
              <a:t>st</a:t>
            </a:r>
            <a:endParaRPr lang="en-IN" sz="1050" dirty="0"/>
          </a:p>
          <a:p>
            <a:r>
              <a:rPr lang="en-IN" sz="1050" dirty="0"/>
              <a:t>import pandas as pd</a:t>
            </a:r>
          </a:p>
          <a:p>
            <a:r>
              <a:rPr lang="en-IN" sz="1050" dirty="0"/>
              <a:t>import </a:t>
            </a:r>
            <a:r>
              <a:rPr lang="en-IN" sz="1050" dirty="0" err="1"/>
              <a:t>matplotlib.pyplot</a:t>
            </a:r>
            <a:r>
              <a:rPr lang="en-IN" sz="1050" dirty="0"/>
              <a:t> as </a:t>
            </a:r>
            <a:r>
              <a:rPr lang="en-IN" sz="1050" dirty="0" err="1"/>
              <a:t>plt</a:t>
            </a:r>
            <a:endParaRPr lang="en-IN" sz="1050" dirty="0"/>
          </a:p>
          <a:p>
            <a:r>
              <a:rPr lang="en-IN" sz="1050" dirty="0"/>
              <a:t>import seaborn as </a:t>
            </a:r>
            <a:r>
              <a:rPr lang="en-IN" sz="1050" dirty="0" err="1"/>
              <a:t>sns</a:t>
            </a:r>
            <a:endParaRPr lang="en-IN" sz="1050" dirty="0"/>
          </a:p>
          <a:p>
            <a:r>
              <a:rPr lang="en-IN" sz="1050" dirty="0"/>
              <a:t>import </a:t>
            </a:r>
            <a:r>
              <a:rPr lang="en-IN" sz="1050" dirty="0" err="1"/>
              <a:t>joblib</a:t>
            </a:r>
            <a:endParaRPr lang="en-IN" sz="1050" dirty="0"/>
          </a:p>
          <a:p>
            <a:r>
              <a:rPr lang="en-IN" sz="1050" dirty="0"/>
              <a:t>import </a:t>
            </a:r>
            <a:r>
              <a:rPr lang="en-IN" sz="1050" dirty="0" err="1"/>
              <a:t>os</a:t>
            </a:r>
            <a:br>
              <a:rPr lang="en-IN" sz="1050" dirty="0"/>
            </a:br>
            <a:r>
              <a:rPr lang="en-IN" sz="1050" dirty="0" err="1"/>
              <a:t>st.set_page_config</a:t>
            </a:r>
            <a:r>
              <a:rPr lang="en-IN" sz="1050" dirty="0"/>
              <a:t>(</a:t>
            </a:r>
          </a:p>
          <a:p>
            <a:r>
              <a:rPr lang="en-IN" sz="1050" dirty="0"/>
              <a:t>    </a:t>
            </a:r>
            <a:r>
              <a:rPr lang="en-IN" sz="1050" dirty="0" err="1"/>
              <a:t>page_title</a:t>
            </a:r>
            <a:r>
              <a:rPr lang="en-IN" sz="1050" dirty="0"/>
              <a:t>="Transportation Analytics Dashboard",</a:t>
            </a:r>
          </a:p>
          <a:p>
            <a:r>
              <a:rPr lang="en-IN" sz="1050" dirty="0"/>
              <a:t>    layout="wide"</a:t>
            </a:r>
          </a:p>
          <a:p>
            <a:r>
              <a:rPr lang="en-IN" sz="1050" dirty="0"/>
              <a:t>)</a:t>
            </a:r>
          </a:p>
          <a:p>
            <a:r>
              <a:rPr lang="en-IN" sz="1050" dirty="0" err="1"/>
              <a:t>st.title</a:t>
            </a:r>
            <a:r>
              <a:rPr lang="en-IN" sz="1050" dirty="0"/>
              <a:t>(" Transportation Analytics Dashboard")</a:t>
            </a:r>
          </a:p>
          <a:p>
            <a:r>
              <a:rPr lang="en-IN" sz="1050" dirty="0"/>
              <a:t>DATA_PATH = </a:t>
            </a:r>
            <a:r>
              <a:rPr lang="en-IN" sz="1050" dirty="0" err="1"/>
              <a:t>r"C</a:t>
            </a:r>
            <a:r>
              <a:rPr lang="en-IN" sz="1050" dirty="0"/>
              <a:t>:\Users\admin\Desktop\Transportation_Analytics\data\cleaned\master_analytics.csv"</a:t>
            </a:r>
          </a:p>
          <a:p>
            <a:r>
              <a:rPr lang="en-IN" sz="1050" dirty="0"/>
              <a:t>MODEL_PATH = </a:t>
            </a:r>
            <a:r>
              <a:rPr lang="en-IN" sz="1050" dirty="0" err="1"/>
              <a:t>r"D</a:t>
            </a:r>
            <a:r>
              <a:rPr lang="en-IN" sz="1050" dirty="0"/>
              <a:t>:\models\fuel_efficiency_model.pkl"</a:t>
            </a:r>
          </a:p>
          <a:p>
            <a:endParaRPr lang="en-IN" sz="1050" dirty="0"/>
          </a:p>
          <a:p>
            <a:r>
              <a:rPr lang="en-IN" sz="1050" dirty="0"/>
              <a:t>if not </a:t>
            </a:r>
            <a:r>
              <a:rPr lang="en-IN" sz="1050" dirty="0" err="1"/>
              <a:t>os.path.exists</a:t>
            </a:r>
            <a:r>
              <a:rPr lang="en-IN" sz="1050" dirty="0"/>
              <a:t>(DATA_PATH):</a:t>
            </a:r>
          </a:p>
          <a:p>
            <a:r>
              <a:rPr lang="en-IN" sz="1050" dirty="0"/>
              <a:t>    </a:t>
            </a:r>
            <a:r>
              <a:rPr lang="en-IN" sz="1050" dirty="0" err="1"/>
              <a:t>st.error</a:t>
            </a:r>
            <a:r>
              <a:rPr lang="en-IN" sz="1050" dirty="0"/>
              <a:t>(" master_analytics.csv not found")</a:t>
            </a:r>
          </a:p>
          <a:p>
            <a:r>
              <a:rPr lang="en-IN" sz="1050" dirty="0"/>
              <a:t>    </a:t>
            </a:r>
            <a:r>
              <a:rPr lang="en-IN" sz="1050" dirty="0" err="1"/>
              <a:t>st.stop</a:t>
            </a:r>
            <a:r>
              <a:rPr lang="en-IN" sz="1050" dirty="0"/>
              <a:t>()</a:t>
            </a:r>
          </a:p>
          <a:p>
            <a:r>
              <a:rPr lang="en-IN" sz="1050" dirty="0"/>
              <a:t>df = </a:t>
            </a:r>
            <a:r>
              <a:rPr lang="en-IN" sz="1050" dirty="0" err="1"/>
              <a:t>pd.read_csv</a:t>
            </a:r>
            <a:r>
              <a:rPr lang="en-IN" sz="1050" dirty="0"/>
              <a:t>(DATA_PATH)</a:t>
            </a:r>
          </a:p>
          <a:p>
            <a:r>
              <a:rPr lang="en-IN" sz="1050" dirty="0" err="1"/>
              <a:t>st.success</a:t>
            </a:r>
            <a:r>
              <a:rPr lang="en-IN" sz="1050" dirty="0"/>
              <a:t>(" Dataset loaded successfully")</a:t>
            </a:r>
          </a:p>
          <a:p>
            <a:endParaRPr lang="en-IN" sz="1050" dirty="0"/>
          </a:p>
          <a:p>
            <a:r>
              <a:rPr lang="en-IN" sz="1050" dirty="0"/>
              <a:t>if not </a:t>
            </a:r>
            <a:r>
              <a:rPr lang="en-IN" sz="1050" dirty="0" err="1"/>
              <a:t>os.path.exists</a:t>
            </a:r>
            <a:r>
              <a:rPr lang="en-IN" sz="1050" dirty="0"/>
              <a:t>(MODEL_PATH):</a:t>
            </a:r>
          </a:p>
          <a:p>
            <a:r>
              <a:rPr lang="en-IN" sz="1050" dirty="0"/>
              <a:t>    </a:t>
            </a:r>
            <a:r>
              <a:rPr lang="en-IN" sz="1050" dirty="0" err="1"/>
              <a:t>st.error</a:t>
            </a:r>
            <a:r>
              <a:rPr lang="en-IN" sz="1050" dirty="0"/>
              <a:t>(" Model file not found. Run model_training.py")</a:t>
            </a:r>
          </a:p>
          <a:p>
            <a:r>
              <a:rPr lang="en-IN" sz="1050" dirty="0"/>
              <a:t>    </a:t>
            </a:r>
            <a:r>
              <a:rPr lang="en-IN" sz="1050" dirty="0" err="1"/>
              <a:t>st.stop</a:t>
            </a:r>
            <a:r>
              <a:rPr lang="en-IN" sz="1050" dirty="0"/>
              <a:t>()</a:t>
            </a:r>
          </a:p>
          <a:p>
            <a:br>
              <a:rPr lang="en-IN" sz="1050" dirty="0"/>
            </a:br>
            <a:r>
              <a:rPr lang="en-IN" sz="1050" dirty="0"/>
              <a:t>try:</a:t>
            </a:r>
          </a:p>
          <a:p>
            <a:r>
              <a:rPr lang="en-IN" sz="1050" dirty="0"/>
              <a:t>    model = </a:t>
            </a:r>
            <a:r>
              <a:rPr lang="en-IN" sz="1050" dirty="0" err="1"/>
              <a:t>joblib.load</a:t>
            </a:r>
            <a:r>
              <a:rPr lang="en-IN" sz="1050" dirty="0"/>
              <a:t>(MODEL_PATH)</a:t>
            </a:r>
          </a:p>
          <a:p>
            <a:r>
              <a:rPr lang="en-IN" sz="1050" dirty="0"/>
              <a:t>    </a:t>
            </a:r>
            <a:r>
              <a:rPr lang="en-IN" sz="1050" dirty="0" err="1"/>
              <a:t>st.success</a:t>
            </a:r>
            <a:r>
              <a:rPr lang="en-IN" sz="1050" dirty="0"/>
              <a:t>(" Model loaded successfully")</a:t>
            </a:r>
          </a:p>
          <a:p>
            <a:r>
              <a:rPr lang="en-IN" sz="1050" dirty="0"/>
              <a:t>except Exception:</a:t>
            </a:r>
          </a:p>
          <a:p>
            <a:r>
              <a:rPr lang="en-IN" sz="1050" dirty="0"/>
              <a:t>    </a:t>
            </a:r>
            <a:r>
              <a:rPr lang="en-IN" sz="1050" dirty="0" err="1"/>
              <a:t>st.error</a:t>
            </a:r>
            <a:r>
              <a:rPr lang="en-IN" sz="1050" dirty="0"/>
              <a:t>(" Model file corrupted. Re-run model_training.py")</a:t>
            </a:r>
          </a:p>
          <a:p>
            <a:r>
              <a:rPr lang="en-IN" sz="1050" dirty="0"/>
              <a:t>    </a:t>
            </a:r>
            <a:r>
              <a:rPr lang="en-IN" sz="1050" dirty="0" err="1"/>
              <a:t>st.stop</a:t>
            </a:r>
            <a:r>
              <a:rPr lang="en-IN" sz="1050" dirty="0"/>
              <a:t>()</a:t>
            </a:r>
          </a:p>
          <a:p>
            <a:br>
              <a:rPr lang="en-IN" sz="1050" dirty="0"/>
            </a:br>
            <a:br>
              <a:rPr lang="en-IN" sz="1050" dirty="0"/>
            </a:br>
            <a:r>
              <a:rPr lang="en-IN" sz="1050" dirty="0" err="1"/>
              <a:t>st.subheader</a:t>
            </a:r>
            <a:r>
              <a:rPr lang="en-IN" sz="1050" dirty="0"/>
              <a:t>("Dataset Overview")</a:t>
            </a:r>
          </a:p>
          <a:p>
            <a:r>
              <a:rPr lang="en-IN" sz="1050" dirty="0" err="1"/>
              <a:t>st.dataframe</a:t>
            </a:r>
            <a:r>
              <a:rPr lang="en-IN" sz="1050" dirty="0"/>
              <a:t>(</a:t>
            </a:r>
            <a:r>
              <a:rPr lang="en-IN" sz="1050" dirty="0" err="1"/>
              <a:t>df.head</a:t>
            </a:r>
            <a:r>
              <a:rPr lang="en-IN" sz="1050" dirty="0"/>
              <a:t>())</a:t>
            </a:r>
          </a:p>
          <a:p>
            <a:br>
              <a:rPr lang="en-IN" sz="1050" dirty="0"/>
            </a:br>
            <a:br>
              <a:rPr lang="en-IN" sz="1050" dirty="0"/>
            </a:br>
            <a:r>
              <a:rPr lang="en-IN" sz="1050" dirty="0" err="1"/>
              <a:t>st.subheader</a:t>
            </a:r>
            <a:r>
              <a:rPr lang="en-IN" sz="1050" dirty="0"/>
              <a:t>(" Fuel Efficiency per Vehicle")</a:t>
            </a:r>
          </a:p>
          <a:p>
            <a:br>
              <a:rPr lang="en-IN" sz="1050" dirty="0"/>
            </a:br>
            <a:endParaRPr lang="en-US" sz="1050" b="1" dirty="0">
              <a:effectLst/>
              <a:latin typeface="Times New Roman" panose="020206030504050203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7C6737-5C7B-4E76-B491-D5669781431C}"/>
              </a:ext>
            </a:extLst>
          </p:cNvPr>
          <p:cNvSpPr/>
          <p:nvPr/>
        </p:nvSpPr>
        <p:spPr>
          <a:xfrm>
            <a:off x="5381625" y="2990850"/>
            <a:ext cx="5295900" cy="17254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b="1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streamlit</a:t>
            </a:r>
            <a:r>
              <a:rPr lang="en-US" b="1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run dashboard.py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You can now view your </a:t>
            </a:r>
            <a:r>
              <a:rPr lang="en-US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Streamlit</a:t>
            </a: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app in your browser.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Local URL: http://localhost:8501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 Network URL: http://10.172.46.106:8501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79203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3A94694-D1B0-45D1-808C-13DD5EB10BEB}"/>
              </a:ext>
            </a:extLst>
          </p:cNvPr>
          <p:cNvSpPr/>
          <p:nvPr/>
        </p:nvSpPr>
        <p:spPr>
          <a:xfrm>
            <a:off x="123825" y="133349"/>
            <a:ext cx="9020175" cy="72019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1050" dirty="0" err="1"/>
              <a:t>st.subheader</a:t>
            </a:r>
            <a:r>
              <a:rPr lang="en-IN" sz="1050" dirty="0"/>
              <a:t>(" Fuel Efficiency per Vehicle")</a:t>
            </a:r>
          </a:p>
          <a:p>
            <a:br>
              <a:rPr lang="en-IN" sz="1050" dirty="0"/>
            </a:br>
            <a:r>
              <a:rPr lang="en-IN" sz="1050" dirty="0"/>
              <a:t>fig1, ax1 = </a:t>
            </a:r>
            <a:r>
              <a:rPr lang="en-IN" sz="1050" dirty="0" err="1"/>
              <a:t>plt.subplots</a:t>
            </a:r>
            <a:r>
              <a:rPr lang="en-IN" sz="1050" dirty="0"/>
              <a:t>(</a:t>
            </a:r>
            <a:r>
              <a:rPr lang="en-IN" sz="1050" dirty="0" err="1"/>
              <a:t>figsize</a:t>
            </a:r>
            <a:r>
              <a:rPr lang="en-IN" sz="1050" dirty="0"/>
              <a:t>=(8, 4))</a:t>
            </a:r>
          </a:p>
          <a:p>
            <a:r>
              <a:rPr lang="en-IN" sz="1050" dirty="0" err="1"/>
              <a:t>sns.barplot</a:t>
            </a:r>
            <a:r>
              <a:rPr lang="en-IN" sz="1050" dirty="0"/>
              <a:t>(</a:t>
            </a:r>
          </a:p>
          <a:p>
            <a:r>
              <a:rPr lang="en-IN" sz="1050" dirty="0"/>
              <a:t>    x="</a:t>
            </a:r>
            <a:r>
              <a:rPr lang="en-IN" sz="1050" dirty="0" err="1"/>
              <a:t>Vehicle_ID</a:t>
            </a:r>
            <a:r>
              <a:rPr lang="en-IN" sz="1050" dirty="0"/>
              <a:t>",</a:t>
            </a:r>
          </a:p>
          <a:p>
            <a:r>
              <a:rPr lang="en-IN" sz="1050" dirty="0"/>
              <a:t>    y="</a:t>
            </a:r>
            <a:r>
              <a:rPr lang="en-IN" sz="1050" dirty="0" err="1"/>
              <a:t>Fuel_Efficiency_km_per_L</a:t>
            </a:r>
            <a:r>
              <a:rPr lang="en-IN" sz="1050" dirty="0"/>
              <a:t>",</a:t>
            </a:r>
          </a:p>
          <a:p>
            <a:r>
              <a:rPr lang="en-IN" sz="1050" dirty="0"/>
              <a:t>    data=df,</a:t>
            </a:r>
          </a:p>
          <a:p>
            <a:r>
              <a:rPr lang="en-IN" sz="1050" dirty="0"/>
              <a:t>    </a:t>
            </a:r>
            <a:r>
              <a:rPr lang="en-IN" sz="1050" dirty="0" err="1"/>
              <a:t>ax</a:t>
            </a:r>
            <a:r>
              <a:rPr lang="en-IN" sz="1050" dirty="0"/>
              <a:t>=ax1</a:t>
            </a:r>
          </a:p>
          <a:p>
            <a:r>
              <a:rPr lang="en-IN" sz="1050" dirty="0"/>
              <a:t>)</a:t>
            </a:r>
          </a:p>
          <a:p>
            <a:r>
              <a:rPr lang="en-IN" sz="1050" dirty="0"/>
              <a:t>ax1.set_title("Fuel Efficiency per Vehicle")</a:t>
            </a:r>
          </a:p>
          <a:p>
            <a:r>
              <a:rPr lang="en-IN" sz="1050" dirty="0" err="1"/>
              <a:t>st.pyplot</a:t>
            </a:r>
            <a:r>
              <a:rPr lang="en-IN" sz="1050" dirty="0"/>
              <a:t>(fig1)</a:t>
            </a:r>
          </a:p>
          <a:p>
            <a:br>
              <a:rPr lang="en-IN" sz="1050" dirty="0"/>
            </a:br>
            <a:br>
              <a:rPr lang="en-IN" sz="1050" dirty="0"/>
            </a:br>
            <a:r>
              <a:rPr lang="en-IN" sz="1050" dirty="0" err="1"/>
              <a:t>st.subheader</a:t>
            </a:r>
            <a:r>
              <a:rPr lang="en-IN" sz="1050" dirty="0"/>
              <a:t>("Delivery Delay Distribution")</a:t>
            </a:r>
          </a:p>
          <a:p>
            <a:br>
              <a:rPr lang="en-IN" sz="1050" dirty="0"/>
            </a:br>
            <a:r>
              <a:rPr lang="en-IN" sz="1050" dirty="0"/>
              <a:t>fig2, ax2 = </a:t>
            </a:r>
            <a:r>
              <a:rPr lang="en-IN" sz="1050" dirty="0" err="1"/>
              <a:t>plt.subplots</a:t>
            </a:r>
            <a:r>
              <a:rPr lang="en-IN" sz="1050" dirty="0"/>
              <a:t>(</a:t>
            </a:r>
            <a:r>
              <a:rPr lang="en-IN" sz="1050" dirty="0" err="1"/>
              <a:t>figsize</a:t>
            </a:r>
            <a:r>
              <a:rPr lang="en-IN" sz="1050" dirty="0"/>
              <a:t>=(8, 4))</a:t>
            </a:r>
          </a:p>
          <a:p>
            <a:r>
              <a:rPr lang="en-IN" sz="1050" dirty="0" err="1"/>
              <a:t>sns.histplot</a:t>
            </a:r>
            <a:r>
              <a:rPr lang="en-IN" sz="1050" dirty="0"/>
              <a:t>(df["</a:t>
            </a:r>
            <a:r>
              <a:rPr lang="en-IN" sz="1050" dirty="0" err="1"/>
              <a:t>Delay_Minutes</a:t>
            </a:r>
            <a:r>
              <a:rPr lang="en-IN" sz="1050" dirty="0"/>
              <a:t>"], bins=10, </a:t>
            </a:r>
            <a:r>
              <a:rPr lang="en-IN" sz="1050" dirty="0" err="1"/>
              <a:t>kde</a:t>
            </a:r>
            <a:r>
              <a:rPr lang="en-IN" sz="1050" dirty="0"/>
              <a:t>=True, </a:t>
            </a:r>
            <a:r>
              <a:rPr lang="en-IN" sz="1050" dirty="0" err="1"/>
              <a:t>ax</a:t>
            </a:r>
            <a:r>
              <a:rPr lang="en-IN" sz="1050" dirty="0"/>
              <a:t>=ax2)</a:t>
            </a:r>
          </a:p>
          <a:p>
            <a:r>
              <a:rPr lang="en-IN" sz="1050" dirty="0"/>
              <a:t>ax2.set_title("Delivery Delay Distribution")</a:t>
            </a:r>
          </a:p>
          <a:p>
            <a:r>
              <a:rPr lang="en-IN" sz="1050" dirty="0" err="1"/>
              <a:t>st.pyplot</a:t>
            </a:r>
            <a:r>
              <a:rPr lang="en-IN" sz="1050" dirty="0"/>
              <a:t>(fig2)</a:t>
            </a:r>
          </a:p>
          <a:p>
            <a:br>
              <a:rPr lang="en-IN" sz="1050" dirty="0"/>
            </a:br>
            <a:r>
              <a:rPr lang="en-IN" sz="1050" dirty="0" err="1"/>
              <a:t>st.subheader</a:t>
            </a:r>
            <a:r>
              <a:rPr lang="en-IN" sz="1050" dirty="0"/>
              <a:t>(" Correlation Heatmap")</a:t>
            </a:r>
          </a:p>
          <a:p>
            <a:br>
              <a:rPr lang="en-IN" sz="1050" dirty="0"/>
            </a:br>
            <a:r>
              <a:rPr lang="en-IN" sz="1050" dirty="0" err="1"/>
              <a:t>numeric_df</a:t>
            </a:r>
            <a:r>
              <a:rPr lang="en-IN" sz="1050" dirty="0"/>
              <a:t> = </a:t>
            </a:r>
            <a:r>
              <a:rPr lang="en-IN" sz="1050" dirty="0" err="1"/>
              <a:t>df.select_dtypes</a:t>
            </a:r>
            <a:r>
              <a:rPr lang="en-IN" sz="1050" dirty="0"/>
              <a:t>(include=["int64", "float64"])</a:t>
            </a:r>
          </a:p>
          <a:p>
            <a:r>
              <a:rPr lang="en-IN" sz="1050" dirty="0"/>
              <a:t>fig3, ax3 = </a:t>
            </a:r>
            <a:r>
              <a:rPr lang="en-IN" sz="1050" dirty="0" err="1"/>
              <a:t>plt.subplots</a:t>
            </a:r>
            <a:r>
              <a:rPr lang="en-IN" sz="1050" dirty="0"/>
              <a:t>(</a:t>
            </a:r>
            <a:r>
              <a:rPr lang="en-IN" sz="1050" dirty="0" err="1"/>
              <a:t>figsize</a:t>
            </a:r>
            <a:r>
              <a:rPr lang="en-IN" sz="1050" dirty="0"/>
              <a:t>=(8, 5))</a:t>
            </a:r>
          </a:p>
          <a:p>
            <a:r>
              <a:rPr lang="en-IN" sz="1050" dirty="0" err="1"/>
              <a:t>sns.heatmap</a:t>
            </a:r>
            <a:r>
              <a:rPr lang="en-IN" sz="1050" dirty="0"/>
              <a:t>(</a:t>
            </a:r>
            <a:r>
              <a:rPr lang="en-IN" sz="1050" dirty="0" err="1"/>
              <a:t>numeric_df.corr</a:t>
            </a:r>
            <a:r>
              <a:rPr lang="en-IN" sz="1050" dirty="0"/>
              <a:t>(), </a:t>
            </a:r>
            <a:r>
              <a:rPr lang="en-IN" sz="1050" dirty="0" err="1"/>
              <a:t>annot</a:t>
            </a:r>
            <a:r>
              <a:rPr lang="en-IN" sz="1050" dirty="0"/>
              <a:t>=True, </a:t>
            </a:r>
            <a:r>
              <a:rPr lang="en-IN" sz="1050" dirty="0" err="1"/>
              <a:t>cmap</a:t>
            </a:r>
            <a:r>
              <a:rPr lang="en-IN" sz="1050" dirty="0"/>
              <a:t>="</a:t>
            </a:r>
            <a:r>
              <a:rPr lang="en-IN" sz="1050" dirty="0" err="1"/>
              <a:t>coolwarm</a:t>
            </a:r>
            <a:r>
              <a:rPr lang="en-IN" sz="1050" dirty="0"/>
              <a:t>", </a:t>
            </a:r>
            <a:r>
              <a:rPr lang="en-IN" sz="1050" dirty="0" err="1"/>
              <a:t>ax</a:t>
            </a:r>
            <a:r>
              <a:rPr lang="en-IN" sz="1050" dirty="0"/>
              <a:t>=ax3)</a:t>
            </a:r>
          </a:p>
          <a:p>
            <a:r>
              <a:rPr lang="en-IN" sz="1050" dirty="0"/>
              <a:t>ax3.set_title("Correlation Heatmap")</a:t>
            </a:r>
          </a:p>
          <a:p>
            <a:r>
              <a:rPr lang="en-IN" sz="1050" dirty="0" err="1"/>
              <a:t>st.pyplot</a:t>
            </a:r>
            <a:r>
              <a:rPr lang="en-IN" sz="1050" dirty="0"/>
              <a:t>(fig3)</a:t>
            </a:r>
          </a:p>
          <a:p>
            <a:br>
              <a:rPr lang="en-IN" sz="1050" dirty="0"/>
            </a:br>
            <a:r>
              <a:rPr lang="en-IN" sz="1050" dirty="0" err="1"/>
              <a:t>st.subheader</a:t>
            </a:r>
            <a:r>
              <a:rPr lang="en-IN" sz="1050" dirty="0"/>
              <a:t>(" Predict Fuel Efficiency")</a:t>
            </a:r>
          </a:p>
          <a:p>
            <a:br>
              <a:rPr lang="en-IN" sz="1050" dirty="0"/>
            </a:br>
            <a:r>
              <a:rPr lang="en-IN" sz="1050" dirty="0"/>
              <a:t>distance = </a:t>
            </a:r>
            <a:r>
              <a:rPr lang="en-IN" sz="1050" dirty="0" err="1"/>
              <a:t>st.number_input</a:t>
            </a:r>
            <a:r>
              <a:rPr lang="en-IN" sz="1050" dirty="0"/>
              <a:t>("Distance (km)", </a:t>
            </a:r>
            <a:r>
              <a:rPr lang="en-IN" sz="1050" dirty="0" err="1"/>
              <a:t>min_value</a:t>
            </a:r>
            <a:r>
              <a:rPr lang="en-IN" sz="1050" dirty="0"/>
              <a:t>=1.0)</a:t>
            </a:r>
          </a:p>
          <a:p>
            <a:r>
              <a:rPr lang="en-IN" sz="1050" dirty="0" err="1"/>
              <a:t>fuel_used</a:t>
            </a:r>
            <a:r>
              <a:rPr lang="en-IN" sz="1050" dirty="0"/>
              <a:t> = </a:t>
            </a:r>
            <a:r>
              <a:rPr lang="en-IN" sz="1050" dirty="0" err="1"/>
              <a:t>st.number_input</a:t>
            </a:r>
            <a:r>
              <a:rPr lang="en-IN" sz="1050" dirty="0"/>
              <a:t>("Fuel Used (litres)", </a:t>
            </a:r>
            <a:r>
              <a:rPr lang="en-IN" sz="1050" dirty="0" err="1"/>
              <a:t>min_value</a:t>
            </a:r>
            <a:r>
              <a:rPr lang="en-IN" sz="1050" dirty="0"/>
              <a:t>=0.1)</a:t>
            </a:r>
          </a:p>
          <a:p>
            <a:r>
              <a:rPr lang="en-IN" sz="1050" dirty="0"/>
              <a:t>delay = </a:t>
            </a:r>
            <a:r>
              <a:rPr lang="en-IN" sz="1050" dirty="0" err="1"/>
              <a:t>st.number_input</a:t>
            </a:r>
            <a:r>
              <a:rPr lang="en-IN" sz="1050" dirty="0"/>
              <a:t>("Delay (minutes)", </a:t>
            </a:r>
            <a:r>
              <a:rPr lang="en-IN" sz="1050" dirty="0" err="1"/>
              <a:t>min_value</a:t>
            </a:r>
            <a:r>
              <a:rPr lang="en-IN" sz="1050" dirty="0"/>
              <a:t>=0.0)</a:t>
            </a:r>
          </a:p>
          <a:p>
            <a:br>
              <a:rPr lang="en-IN" sz="1050" dirty="0"/>
            </a:br>
            <a:r>
              <a:rPr lang="en-IN" sz="1050" dirty="0"/>
              <a:t>if </a:t>
            </a:r>
            <a:r>
              <a:rPr lang="en-IN" sz="1050" dirty="0" err="1"/>
              <a:t>st.button</a:t>
            </a:r>
            <a:r>
              <a:rPr lang="en-IN" sz="1050" dirty="0"/>
              <a:t>("Predict"):</a:t>
            </a:r>
          </a:p>
          <a:p>
            <a:r>
              <a:rPr lang="en-IN" sz="1050" dirty="0"/>
              <a:t>    try:</a:t>
            </a:r>
          </a:p>
          <a:p>
            <a:r>
              <a:rPr lang="en-IN" sz="1050" dirty="0"/>
              <a:t>        </a:t>
            </a:r>
            <a:r>
              <a:rPr lang="en-IN" sz="1050" dirty="0" err="1"/>
              <a:t>input_data</a:t>
            </a:r>
            <a:r>
              <a:rPr lang="en-IN" sz="1050" dirty="0"/>
              <a:t> = [[distance, </a:t>
            </a:r>
            <a:r>
              <a:rPr lang="en-IN" sz="1050" dirty="0" err="1"/>
              <a:t>fuel_used</a:t>
            </a:r>
            <a:r>
              <a:rPr lang="en-IN" sz="1050" dirty="0"/>
              <a:t>, delay, 0, 0, 0, 0, 0, 0]]</a:t>
            </a:r>
          </a:p>
          <a:p>
            <a:r>
              <a:rPr lang="en-IN" sz="1050" dirty="0"/>
              <a:t>        prediction = </a:t>
            </a:r>
            <a:r>
              <a:rPr lang="en-IN" sz="1050" dirty="0" err="1"/>
              <a:t>model.predict</a:t>
            </a:r>
            <a:r>
              <a:rPr lang="en-IN" sz="1050" dirty="0"/>
              <a:t>(</a:t>
            </a:r>
            <a:r>
              <a:rPr lang="en-IN" sz="1050" dirty="0" err="1"/>
              <a:t>input_data</a:t>
            </a:r>
            <a:r>
              <a:rPr lang="en-IN" sz="1050" dirty="0"/>
              <a:t>)</a:t>
            </a:r>
          </a:p>
          <a:p>
            <a:r>
              <a:rPr lang="en-IN" sz="1050" dirty="0"/>
              <a:t>        </a:t>
            </a:r>
            <a:r>
              <a:rPr lang="en-IN" sz="1050" dirty="0" err="1"/>
              <a:t>st.success</a:t>
            </a:r>
            <a:r>
              <a:rPr lang="en-IN" sz="1050" dirty="0"/>
              <a:t>(f" Predicted Fuel Efficiency: {prediction[0]:.2f} km/L")</a:t>
            </a:r>
          </a:p>
          <a:p>
            <a:r>
              <a:rPr lang="en-IN" sz="1050" dirty="0"/>
              <a:t>    except Exception as e:</a:t>
            </a:r>
          </a:p>
          <a:p>
            <a:r>
              <a:rPr lang="en-IN" sz="1050" dirty="0"/>
              <a:t>        </a:t>
            </a:r>
            <a:r>
              <a:rPr lang="en-IN" sz="1050" dirty="0" err="1"/>
              <a:t>st.error</a:t>
            </a:r>
            <a:r>
              <a:rPr lang="en-IN" sz="1050" dirty="0"/>
              <a:t>("Prediction failed. Check model features.")</a:t>
            </a:r>
          </a:p>
          <a:p>
            <a:br>
              <a:rPr lang="en-IN" sz="1050" dirty="0"/>
            </a:br>
            <a:endParaRPr lang="en-IN" sz="105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750FA2-A8C0-4FA5-B03E-00678575B743}"/>
              </a:ext>
            </a:extLst>
          </p:cNvPr>
          <p:cNvSpPr/>
          <p:nvPr/>
        </p:nvSpPr>
        <p:spPr>
          <a:xfrm>
            <a:off x="4695824" y="2838450"/>
            <a:ext cx="6296026" cy="17254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b="1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streamlit</a:t>
            </a:r>
            <a:r>
              <a:rPr lang="en-US" b="1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run dashboard.py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You can now view your </a:t>
            </a:r>
            <a:r>
              <a:rPr lang="en-US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Streamlit</a:t>
            </a: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app in your browser.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Local URL: http://localhost:8501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 Network URL: http://10.172.46.106:8501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41557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D175E8-00B5-481B-AA48-4BF70D4980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2" y="99758"/>
            <a:ext cx="4114800" cy="26745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C0DC091-9DB4-411D-9145-DA1CF877F1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582" y="118808"/>
            <a:ext cx="4015409" cy="26745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CCB163-87BD-4197-A08A-D62AF4F077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8321" y="118808"/>
            <a:ext cx="3664227" cy="26745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7AB60C-2240-4EBD-B519-7DED5895658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3" y="3619560"/>
            <a:ext cx="2825197" cy="22668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321865-899B-425D-8CB7-6C9BE1E6A6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3700" y="3619560"/>
            <a:ext cx="3162300" cy="228593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C31FEE8-9F5A-48A7-8819-F345826DA6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050" y="3619561"/>
            <a:ext cx="3032264" cy="228593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E6C4350-3EE6-4D3D-857C-493BA48F07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6364" y="3619559"/>
            <a:ext cx="2936183" cy="2266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245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02BAC3-9B31-418D-B70F-12B5A6FA09F4}"/>
              </a:ext>
            </a:extLst>
          </p:cNvPr>
          <p:cNvSpPr/>
          <p:nvPr/>
        </p:nvSpPr>
        <p:spPr>
          <a:xfrm>
            <a:off x="200025" y="209550"/>
            <a:ext cx="8943975" cy="51610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endParaRPr lang="en-US" sz="1600" b="1" dirty="0">
              <a:effectLst/>
              <a:latin typeface="Times New Roman" panose="02020603050405020304" pitchFamily="18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b="1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5. Feature Engineering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Fuel Economy Index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Load Ratio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Speed-Time features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One-hot encoding for categorical variables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1600" b="1" dirty="0">
                <a:effectLst/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6. Model Training</a:t>
            </a:r>
            <a:endParaRPr lang="en-IN" sz="1600" b="1" dirty="0">
              <a:effectLst/>
              <a:latin typeface="Calibri" panose="020F0502020204030204" pitchFamily="34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Fuel Efficiency Model: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Algorithm: </a:t>
            </a:r>
            <a:r>
              <a:rPr lang="en-US" sz="1600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RandomForestRegressor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Trained on 9 features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MAE: 0.27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R² Score: 0.81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Model saved at: models/</a:t>
            </a:r>
            <a:r>
              <a:rPr lang="en-US" sz="1600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fuel_efficiency_model.pkl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83960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5FAE92-BB29-45EB-882F-FD1D9F8AAE58}"/>
              </a:ext>
            </a:extLst>
          </p:cNvPr>
          <p:cNvSpPr/>
          <p:nvPr/>
        </p:nvSpPr>
        <p:spPr>
          <a:xfrm>
            <a:off x="85725" y="-552450"/>
            <a:ext cx="9058275" cy="6806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endParaRPr lang="en-US" sz="1600" b="1" dirty="0">
              <a:effectLst/>
              <a:latin typeface="Times New Roman" panose="02020603050405020304" pitchFamily="18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endParaRPr lang="en-US" sz="1600" b="1" dirty="0">
              <a:latin typeface="Times New Roman" panose="02020603050405020304" pitchFamily="18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1600" b="1" dirty="0"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7. Dashboard</a:t>
            </a:r>
            <a:endParaRPr lang="en-IN" sz="1600" b="1" dirty="0">
              <a:latin typeface="Calibri" panose="020F0502020204030204" pitchFamily="34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 </a:t>
            </a:r>
            <a:r>
              <a:rPr lang="en-US" sz="1600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Streamlit</a:t>
            </a: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dashboard was created to: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Upload datasets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Visualize metrics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Predict Fuel Efficiency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Command to run: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   </a:t>
            </a:r>
            <a:r>
              <a:rPr lang="en-US" sz="1600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streamlit</a:t>
            </a: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run dashboard.py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endParaRPr lang="en-US" sz="1600" b="1" dirty="0">
              <a:effectLst/>
              <a:latin typeface="Times New Roman" panose="02020603050405020304" pitchFamily="18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1600" b="1" dirty="0">
                <a:effectLst/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8. Folder Structure</a:t>
            </a:r>
            <a:endParaRPr lang="en-IN" sz="1600" b="1" dirty="0">
              <a:effectLst/>
              <a:latin typeface="Calibri" panose="020F0502020204030204" pitchFamily="34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Transportation_Analytics</a:t>
            </a: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/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├── data/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├── models/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├── dashboard.py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├── model_training.py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1600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├── requirements.txt</a:t>
            </a:r>
            <a:endParaRPr lang="en-IN" sz="1600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8224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B5E6C1-5BFD-4EC4-B99B-D3486937479D}"/>
              </a:ext>
            </a:extLst>
          </p:cNvPr>
          <p:cNvSpPr/>
          <p:nvPr/>
        </p:nvSpPr>
        <p:spPr>
          <a:xfrm>
            <a:off x="133350" y="200025"/>
            <a:ext cx="13125450" cy="56239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b="1" dirty="0"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9. How to Run</a:t>
            </a:r>
            <a:endParaRPr lang="en-IN" b="1" dirty="0">
              <a:latin typeface="Calibri" panose="020F0502020204030204" pitchFamily="34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1. Navigate to project folder: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  cd </a:t>
            </a:r>
            <a:r>
              <a:rPr lang="en-US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Transportation_Analytics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2. Train model: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  python model_training.py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3. Run dashboard: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  </a:t>
            </a:r>
            <a:r>
              <a:rPr lang="en-US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streamlit</a:t>
            </a: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run dashboard.py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b="1" dirty="0"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10. Deployment Guide</a:t>
            </a:r>
            <a:endParaRPr lang="en-IN" b="1" dirty="0">
              <a:latin typeface="Calibri" panose="020F0502020204030204" pitchFamily="34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 err="1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Streamlit</a:t>
            </a: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Cloud Deployment Steps: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Push project to GitHub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Login to share.streamlit.io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Select repo and deploy</a:t>
            </a:r>
            <a:endParaRPr lang="en-IN" dirty="0"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 Add models/ folder to repo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2206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3003</Words>
  <Application>Microsoft Office PowerPoint</Application>
  <PresentationFormat>Widescreen</PresentationFormat>
  <Paragraphs>334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MS Gothic</vt:lpstr>
      <vt:lpstr>MS Mincho</vt:lpstr>
      <vt:lpstr>Arial</vt:lpstr>
      <vt:lpstr>Calibri</vt:lpstr>
      <vt:lpstr>Calibri Light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8</cp:revision>
  <dcterms:created xsi:type="dcterms:W3CDTF">2025-12-13T14:39:10Z</dcterms:created>
  <dcterms:modified xsi:type="dcterms:W3CDTF">2025-12-14T06:05:53Z</dcterms:modified>
</cp:coreProperties>
</file>